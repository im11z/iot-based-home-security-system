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oboto"/>
      <p:regular r:id="rId17"/>
      <p:bold r:id="rId18"/>
      <p:italic r:id="rId19"/>
      <p:boldItalic r:id="rId20"/>
    </p:embeddedFont>
    <p:embeddedFont>
      <p:font typeface="Comfortaa"/>
      <p:regular r:id="rId21"/>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Italic.fntdata"/><Relationship Id="rId11" Type="http://schemas.openxmlformats.org/officeDocument/2006/relationships/slide" Target="slides/slide6.xml"/><Relationship Id="rId22" Type="http://schemas.openxmlformats.org/officeDocument/2006/relationships/font" Target="fonts/Comfortaa-bold.fntdata"/><Relationship Id="rId10" Type="http://schemas.openxmlformats.org/officeDocument/2006/relationships/slide" Target="slides/slide5.xml"/><Relationship Id="rId21" Type="http://schemas.openxmlformats.org/officeDocument/2006/relationships/font" Target="fonts/Comfortaa-regular.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oboto-italic.fntdata"/><Relationship Id="rId6" Type="http://schemas.openxmlformats.org/officeDocument/2006/relationships/slide" Target="slides/slide1.xml"/><Relationship Id="rId18" Type="http://schemas.openxmlformats.org/officeDocument/2006/relationships/font" Target="fonts/Roboto-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 name="Google Shape;5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be64ea63a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g2be64ea63ae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724d7c2eff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724d7c2eff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724d7c2ef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724d7c2ef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bec57556d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g2bec57556d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flipH="1" rot="-113">
            <a:off x="-25" y="125"/>
            <a:ext cx="9144000" cy="569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Times New Roman"/>
                <a:ea typeface="Times New Roman"/>
                <a:cs typeface="Times New Roman"/>
                <a:sym typeface="Times New Roman"/>
              </a:rPr>
              <a:t>	CONTENTS</a:t>
            </a:r>
            <a:endParaRPr b="1" i="0" sz="2500" u="none" cap="none" strike="noStrike">
              <a:solidFill>
                <a:schemeClr val="dk1"/>
              </a:solidFill>
              <a:latin typeface="Times New Roman"/>
              <a:ea typeface="Times New Roman"/>
              <a:cs typeface="Times New Roman"/>
              <a:sym typeface="Times New Roman"/>
            </a:endParaRPr>
          </a:p>
        </p:txBody>
      </p:sp>
      <p:sp>
        <p:nvSpPr>
          <p:cNvPr id="55" name="Google Shape;55;p13"/>
          <p:cNvSpPr txBox="1"/>
          <p:nvPr/>
        </p:nvSpPr>
        <p:spPr>
          <a:xfrm>
            <a:off x="3102164" y="1081983"/>
            <a:ext cx="5064300" cy="463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
        <p:nvSpPr>
          <p:cNvPr id="56" name="Google Shape;56;p13"/>
          <p:cNvSpPr txBox="1"/>
          <p:nvPr/>
        </p:nvSpPr>
        <p:spPr>
          <a:xfrm>
            <a:off x="496075" y="931125"/>
            <a:ext cx="8276700" cy="35379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chemeClr val="dk1"/>
              </a:buClr>
              <a:buSzPts val="1800"/>
              <a:buFont typeface="Times New Roman"/>
              <a:buChar char="●"/>
            </a:pPr>
            <a:r>
              <a:rPr b="0" i="0" lang="en" sz="1800" u="none" cap="none" strike="noStrike">
                <a:solidFill>
                  <a:schemeClr val="dk1"/>
                </a:solidFill>
                <a:latin typeface="Times New Roman"/>
                <a:ea typeface="Times New Roman"/>
                <a:cs typeface="Times New Roman"/>
                <a:sym typeface="Times New Roman"/>
              </a:rPr>
              <a:t>ABSTRACT</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00000"/>
              </a:lnSpc>
              <a:spcBef>
                <a:spcPts val="0"/>
              </a:spcBef>
              <a:spcAft>
                <a:spcPts val="0"/>
              </a:spcAft>
              <a:buClr>
                <a:schemeClr val="dk1"/>
              </a:buClr>
              <a:buSzPts val="1800"/>
              <a:buFont typeface="Times New Roman"/>
              <a:buChar char="●"/>
            </a:pPr>
            <a:r>
              <a:rPr b="0" i="0" lang="en" sz="1800" u="none" cap="none" strike="noStrike">
                <a:solidFill>
                  <a:schemeClr val="dk1"/>
                </a:solidFill>
                <a:latin typeface="Times New Roman"/>
                <a:ea typeface="Times New Roman"/>
                <a:cs typeface="Times New Roman"/>
                <a:sym typeface="Times New Roman"/>
              </a:rPr>
              <a:t>INTRODUCTION</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00000"/>
              </a:lnSpc>
              <a:spcBef>
                <a:spcPts val="0"/>
              </a:spcBef>
              <a:spcAft>
                <a:spcPts val="0"/>
              </a:spcAft>
              <a:buClr>
                <a:schemeClr val="dk1"/>
              </a:buClr>
              <a:buSzPts val="1800"/>
              <a:buFont typeface="Times New Roman"/>
              <a:buChar char="●"/>
            </a:pPr>
            <a:r>
              <a:rPr b="0" i="0" lang="en" sz="1800" u="none" cap="none" strike="noStrike">
                <a:solidFill>
                  <a:schemeClr val="dk1"/>
                </a:solidFill>
                <a:latin typeface="Times New Roman"/>
                <a:ea typeface="Times New Roman"/>
                <a:cs typeface="Times New Roman"/>
                <a:sym typeface="Times New Roman"/>
              </a:rPr>
              <a:t>KEY FEATURES</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00000"/>
              </a:lnSpc>
              <a:spcBef>
                <a:spcPts val="0"/>
              </a:spcBef>
              <a:spcAft>
                <a:spcPts val="0"/>
              </a:spcAft>
              <a:buClr>
                <a:schemeClr val="dk1"/>
              </a:buClr>
              <a:buSzPts val="1800"/>
              <a:buFont typeface="Times New Roman"/>
              <a:buChar char="●"/>
            </a:pPr>
            <a:r>
              <a:rPr b="0" i="0" lang="en" sz="1800" u="none" cap="none" strike="noStrike">
                <a:solidFill>
                  <a:schemeClr val="dk1"/>
                </a:solidFill>
                <a:latin typeface="Times New Roman"/>
                <a:ea typeface="Times New Roman"/>
                <a:cs typeface="Times New Roman"/>
                <a:sym typeface="Times New Roman"/>
              </a:rPr>
              <a:t>SENSORS </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00000"/>
              </a:lnSpc>
              <a:spcBef>
                <a:spcPts val="0"/>
              </a:spcBef>
              <a:spcAft>
                <a:spcPts val="0"/>
              </a:spcAft>
              <a:buClr>
                <a:schemeClr val="dk1"/>
              </a:buClr>
              <a:buSzPts val="1800"/>
              <a:buFont typeface="Times New Roman"/>
              <a:buChar char="●"/>
            </a:pPr>
            <a:r>
              <a:rPr b="0" i="0" lang="en" sz="1800" u="none" cap="none" strike="noStrike">
                <a:solidFill>
                  <a:schemeClr val="dk1"/>
                </a:solidFill>
                <a:latin typeface="Times New Roman"/>
                <a:ea typeface="Times New Roman"/>
                <a:cs typeface="Times New Roman"/>
                <a:sym typeface="Times New Roman"/>
              </a:rPr>
              <a:t>MICROCONTROLLER</a:t>
            </a:r>
            <a:r>
              <a:rPr lang="en" sz="1800">
                <a:solidFill>
                  <a:schemeClr val="dk1"/>
                </a:solidFill>
                <a:latin typeface="Times New Roman"/>
                <a:ea typeface="Times New Roman"/>
                <a:cs typeface="Times New Roman"/>
                <a:sym typeface="Times New Roman"/>
              </a:rPr>
              <a:t>S</a:t>
            </a:r>
            <a:r>
              <a:rPr b="0" i="0" lang="en" sz="1800" u="none" cap="none" strike="noStrike">
                <a:solidFill>
                  <a:schemeClr val="dk1"/>
                </a:solidFill>
                <a:latin typeface="Times New Roman"/>
                <a:ea typeface="Times New Roman"/>
                <a:cs typeface="Times New Roman"/>
                <a:sym typeface="Times New Roman"/>
              </a:rPr>
              <a:t> </a:t>
            </a:r>
            <a:endParaRPr b="0" i="0" sz="1800" u="none" cap="none" strike="noStrike">
              <a:solidFill>
                <a:schemeClr val="dk1"/>
              </a:solidFill>
              <a:latin typeface="Times New Roman"/>
              <a:ea typeface="Times New Roman"/>
              <a:cs typeface="Times New Roman"/>
              <a:sym typeface="Times New Roman"/>
            </a:endParaRPr>
          </a:p>
          <a:p>
            <a:pPr indent="-342900" lvl="0" marL="457200" marR="0" rtl="0" algn="l">
              <a:lnSpc>
                <a:spcPct val="100000"/>
              </a:lnSpc>
              <a:spcBef>
                <a:spcPts val="0"/>
              </a:spcBef>
              <a:spcAft>
                <a:spcPts val="0"/>
              </a:spcAft>
              <a:buClr>
                <a:schemeClr val="dk1"/>
              </a:buClr>
              <a:buSzPts val="1800"/>
              <a:buFont typeface="Times New Roman"/>
              <a:buChar char="●"/>
            </a:pPr>
            <a:r>
              <a:rPr b="0" i="0" lang="en" sz="1800" u="none" cap="none" strike="noStrike">
                <a:solidFill>
                  <a:schemeClr val="dk1"/>
                </a:solidFill>
                <a:latin typeface="Times New Roman"/>
                <a:ea typeface="Times New Roman"/>
                <a:cs typeface="Times New Roman"/>
                <a:sym typeface="Times New Roman"/>
              </a:rPr>
              <a:t>BLOCK DIAGRA</a:t>
            </a:r>
            <a:r>
              <a:rPr b="0" i="0" lang="en" sz="1800" u="none" cap="none" strike="noStrike">
                <a:solidFill>
                  <a:schemeClr val="dk1"/>
                </a:solidFill>
                <a:latin typeface="Times New Roman"/>
                <a:ea typeface="Times New Roman"/>
                <a:cs typeface="Times New Roman"/>
                <a:sym typeface="Times New Roman"/>
              </a:rPr>
              <a:t>M</a:t>
            </a:r>
            <a:endParaRPr b="0" i="0" sz="1800" u="none" cap="none" strike="noStrike">
              <a:solidFill>
                <a:schemeClr val="dk1"/>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None/>
            </a:pPr>
            <a:r>
              <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235500" y="1402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990"/>
              <a:buNone/>
            </a:pPr>
            <a:r>
              <a:rPr b="1" lang="en" sz="2520">
                <a:latin typeface="Times New Roman"/>
                <a:ea typeface="Times New Roman"/>
                <a:cs typeface="Times New Roman"/>
                <a:sym typeface="Times New Roman"/>
              </a:rPr>
              <a:t>ABSTRACT</a:t>
            </a:r>
            <a:endParaRPr b="1" sz="2520">
              <a:latin typeface="Times New Roman"/>
              <a:ea typeface="Times New Roman"/>
              <a:cs typeface="Times New Roman"/>
              <a:sym typeface="Times New Roman"/>
            </a:endParaRPr>
          </a:p>
        </p:txBody>
      </p:sp>
      <p:sp>
        <p:nvSpPr>
          <p:cNvPr id="62" name="Google Shape;62;p14"/>
          <p:cNvSpPr txBox="1"/>
          <p:nvPr>
            <p:ph idx="1" type="body"/>
          </p:nvPr>
        </p:nvSpPr>
        <p:spPr>
          <a:xfrm>
            <a:off x="0" y="864025"/>
            <a:ext cx="8916300" cy="3576900"/>
          </a:xfrm>
          <a:prstGeom prst="rect">
            <a:avLst/>
          </a:prstGeom>
          <a:noFill/>
          <a:ln>
            <a:noFill/>
          </a:ln>
        </p:spPr>
        <p:txBody>
          <a:bodyPr anchorCtr="0" anchor="t" bIns="91425" lIns="91425" spcFirstLastPara="1" rIns="91425" wrap="square" tIns="91425">
            <a:noAutofit/>
          </a:bodyPr>
          <a:lstStyle/>
          <a:p>
            <a:pPr indent="-336550" lvl="0" marL="457200" rtl="0" algn="l">
              <a:lnSpc>
                <a:spcPct val="95000"/>
              </a:lnSpc>
              <a:spcBef>
                <a:spcPts val="0"/>
              </a:spcBef>
              <a:spcAft>
                <a:spcPts val="0"/>
              </a:spcAft>
              <a:buClr>
                <a:schemeClr val="dk1"/>
              </a:buClr>
              <a:buSzPts val="1700"/>
              <a:buFont typeface="Times New Roman"/>
              <a:buChar char="●"/>
            </a:pPr>
            <a:r>
              <a:rPr lang="en" sz="1700">
                <a:solidFill>
                  <a:schemeClr val="dk1"/>
                </a:solidFill>
                <a:latin typeface="Times New Roman"/>
                <a:ea typeface="Times New Roman"/>
                <a:cs typeface="Times New Roman"/>
                <a:sym typeface="Times New Roman"/>
              </a:rPr>
              <a:t>The Arduino-based IoT home security system combines sensors like gas, temperature, and infrared to address thefts, fire, and gas leaks. Linked to an Arduino Uno processor and an ESP8266 Wi-Fi module, the system detects and communicates incidents promptly. </a:t>
            </a:r>
            <a:endParaRPr sz="1700">
              <a:solidFill>
                <a:schemeClr val="dk1"/>
              </a:solidFill>
              <a:latin typeface="Times New Roman"/>
              <a:ea typeface="Times New Roman"/>
              <a:cs typeface="Times New Roman"/>
              <a:sym typeface="Times New Roman"/>
            </a:endParaRPr>
          </a:p>
          <a:p>
            <a:pPr indent="0" lvl="0" marL="457200" rtl="0" algn="l">
              <a:lnSpc>
                <a:spcPct val="95000"/>
              </a:lnSpc>
              <a:spcBef>
                <a:spcPts val="0"/>
              </a:spcBef>
              <a:spcAft>
                <a:spcPts val="0"/>
              </a:spcAft>
              <a:buNone/>
            </a:pPr>
            <a:r>
              <a:t/>
            </a:r>
            <a:endParaRPr sz="1700">
              <a:solidFill>
                <a:schemeClr val="dk1"/>
              </a:solidFill>
              <a:latin typeface="Times New Roman"/>
              <a:ea typeface="Times New Roman"/>
              <a:cs typeface="Times New Roman"/>
              <a:sym typeface="Times New Roman"/>
            </a:endParaRPr>
          </a:p>
          <a:p>
            <a:pPr indent="-336550" lvl="0" marL="457200" rtl="0" algn="l">
              <a:lnSpc>
                <a:spcPct val="95000"/>
              </a:lnSpc>
              <a:spcBef>
                <a:spcPts val="0"/>
              </a:spcBef>
              <a:spcAft>
                <a:spcPts val="0"/>
              </a:spcAft>
              <a:buClr>
                <a:schemeClr val="dk1"/>
              </a:buClr>
              <a:buSzPts val="1700"/>
              <a:buFont typeface="Times New Roman"/>
              <a:buChar char="●"/>
            </a:pPr>
            <a:r>
              <a:rPr lang="en" sz="1700">
                <a:solidFill>
                  <a:schemeClr val="dk1"/>
                </a:solidFill>
                <a:latin typeface="Times New Roman"/>
                <a:ea typeface="Times New Roman"/>
                <a:cs typeface="Times New Roman"/>
                <a:sym typeface="Times New Roman"/>
              </a:rPr>
              <a:t>The inclusion of an LDR enhances security by identifying energized lamps or fire flames. Activating before locking, the system employs IR sensors to detect tampering, triggering alarms. </a:t>
            </a:r>
            <a:endParaRPr sz="1700">
              <a:solidFill>
                <a:schemeClr val="dk1"/>
              </a:solidFill>
              <a:latin typeface="Times New Roman"/>
              <a:ea typeface="Times New Roman"/>
              <a:cs typeface="Times New Roman"/>
              <a:sym typeface="Times New Roman"/>
            </a:endParaRPr>
          </a:p>
          <a:p>
            <a:pPr indent="0" lvl="0" marL="457200" rtl="0" algn="l">
              <a:lnSpc>
                <a:spcPct val="95000"/>
              </a:lnSpc>
              <a:spcBef>
                <a:spcPts val="0"/>
              </a:spcBef>
              <a:spcAft>
                <a:spcPts val="0"/>
              </a:spcAft>
              <a:buNone/>
            </a:pPr>
            <a:r>
              <a:t/>
            </a:r>
            <a:endParaRPr sz="1700">
              <a:solidFill>
                <a:schemeClr val="dk1"/>
              </a:solidFill>
              <a:latin typeface="Times New Roman"/>
              <a:ea typeface="Times New Roman"/>
              <a:cs typeface="Times New Roman"/>
              <a:sym typeface="Times New Roman"/>
            </a:endParaRPr>
          </a:p>
          <a:p>
            <a:pPr indent="-336550" lvl="0" marL="457200" rtl="0" algn="l">
              <a:lnSpc>
                <a:spcPct val="95000"/>
              </a:lnSpc>
              <a:spcBef>
                <a:spcPts val="0"/>
              </a:spcBef>
              <a:spcAft>
                <a:spcPts val="0"/>
              </a:spcAft>
              <a:buClr>
                <a:schemeClr val="dk1"/>
              </a:buClr>
              <a:buSzPts val="1700"/>
              <a:buFont typeface="Times New Roman"/>
              <a:buChar char="●"/>
            </a:pPr>
            <a:r>
              <a:rPr lang="en" sz="1700">
                <a:solidFill>
                  <a:schemeClr val="dk1"/>
                </a:solidFill>
                <a:latin typeface="Times New Roman"/>
                <a:ea typeface="Times New Roman"/>
                <a:cs typeface="Times New Roman"/>
                <a:sym typeface="Times New Roman"/>
              </a:rPr>
              <a:t>This integrated approach ensures comprehensive protection, sending real-time alerts and empowering homeowners to secure their houses effectively against a range of potential threats.</a:t>
            </a:r>
            <a:endParaRPr sz="156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idx="1" type="body"/>
          </p:nvPr>
        </p:nvSpPr>
        <p:spPr>
          <a:xfrm>
            <a:off x="25" y="613575"/>
            <a:ext cx="9144000" cy="4451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700">
                <a:solidFill>
                  <a:schemeClr val="dk1"/>
                </a:solidFill>
                <a:highlight>
                  <a:schemeClr val="lt1"/>
                </a:highlight>
              </a:rPr>
              <a:t>Integrated Sensors:</a:t>
            </a:r>
            <a:endParaRPr b="1" sz="170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t/>
            </a:r>
            <a:endParaRPr sz="1700">
              <a:solidFill>
                <a:schemeClr val="dk1"/>
              </a:solidFill>
              <a:highlight>
                <a:schemeClr val="lt1"/>
              </a:highlight>
            </a:endParaRPr>
          </a:p>
          <a:p>
            <a:pPr indent="-336550" lvl="0" marL="457200" rtl="0" algn="l">
              <a:spcBef>
                <a:spcPts val="0"/>
              </a:spcBef>
              <a:spcAft>
                <a:spcPts val="0"/>
              </a:spcAft>
              <a:buClr>
                <a:schemeClr val="dk1"/>
              </a:buClr>
              <a:buSzPts val="1700"/>
              <a:buChar char="●"/>
            </a:pPr>
            <a:r>
              <a:rPr lang="en" sz="1700">
                <a:solidFill>
                  <a:schemeClr val="dk1"/>
                </a:solidFill>
                <a:highlight>
                  <a:schemeClr val="lt1"/>
                </a:highlight>
              </a:rPr>
              <a:t>Our project uses Arduino Uno and IoT technology, integrating gas, temperature, light, and IR sensors for comprehensive home security. Intelligent sensor fusion ensures accurate threat detection.</a:t>
            </a:r>
            <a:endParaRPr sz="170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t/>
            </a:r>
            <a:endParaRPr sz="170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rPr b="1" lang="en" sz="1700">
                <a:solidFill>
                  <a:schemeClr val="dk1"/>
                </a:solidFill>
                <a:highlight>
                  <a:schemeClr val="lt1"/>
                </a:highlight>
              </a:rPr>
              <a:t>Instant Wi-Fi Connectivity:</a:t>
            </a:r>
            <a:endParaRPr b="1" sz="170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t/>
            </a:r>
            <a:endParaRPr sz="1700">
              <a:solidFill>
                <a:schemeClr val="dk1"/>
              </a:solidFill>
              <a:highlight>
                <a:schemeClr val="lt1"/>
              </a:highlight>
            </a:endParaRPr>
          </a:p>
          <a:p>
            <a:pPr indent="-336550" lvl="0" marL="457200" rtl="0" algn="l">
              <a:spcBef>
                <a:spcPts val="0"/>
              </a:spcBef>
              <a:spcAft>
                <a:spcPts val="0"/>
              </a:spcAft>
              <a:buClr>
                <a:schemeClr val="dk1"/>
              </a:buClr>
              <a:buSzPts val="1700"/>
              <a:buChar char="●"/>
            </a:pPr>
            <a:r>
              <a:rPr lang="en" sz="1700">
                <a:solidFill>
                  <a:schemeClr val="dk1"/>
                </a:solidFill>
                <a:highlight>
                  <a:schemeClr val="lt1"/>
                </a:highlight>
              </a:rPr>
              <a:t>With an ESP8266 Wi-Fi module, our system provides real-time connectivity, enabling immediate alerts for swift responses to potential threats.</a:t>
            </a:r>
            <a:endParaRPr sz="1700">
              <a:solidFill>
                <a:schemeClr val="dk1"/>
              </a:solidFill>
              <a:highlight>
                <a:schemeClr val="lt1"/>
              </a:highlight>
            </a:endParaRPr>
          </a:p>
        </p:txBody>
      </p:sp>
      <p:sp>
        <p:nvSpPr>
          <p:cNvPr id="68" name="Google Shape;68;p15"/>
          <p:cNvSpPr txBox="1"/>
          <p:nvPr>
            <p:ph type="title"/>
          </p:nvPr>
        </p:nvSpPr>
        <p:spPr>
          <a:xfrm>
            <a:off x="0" y="0"/>
            <a:ext cx="9144000" cy="7179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b="1" lang="en">
                <a:latin typeface="Times New Roman"/>
                <a:ea typeface="Times New Roman"/>
                <a:cs typeface="Times New Roman"/>
                <a:sym typeface="Times New Roman"/>
              </a:rPr>
              <a:t>INTRODUCTION</a:t>
            </a:r>
            <a:endParaRPr b="1">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290850" y="-21775"/>
            <a:ext cx="2811900" cy="887100"/>
          </a:xfrm>
          <a:prstGeom prst="rect">
            <a:avLst/>
          </a:prstGeom>
          <a:noFill/>
          <a:ln>
            <a:noFill/>
          </a:ln>
        </p:spPr>
        <p:txBody>
          <a:bodyPr anchorCtr="0" anchor="t" bIns="91425" lIns="91425" spcFirstLastPara="1" rIns="91425" wrap="square" tIns="91425">
            <a:noAutofit/>
          </a:bodyPr>
          <a:lstStyle/>
          <a:p>
            <a:pPr indent="0" lvl="0" marL="0" rtl="0" algn="ctr">
              <a:lnSpc>
                <a:spcPct val="160000"/>
              </a:lnSpc>
              <a:spcBef>
                <a:spcPts val="1400"/>
              </a:spcBef>
              <a:spcAft>
                <a:spcPts val="0"/>
              </a:spcAft>
              <a:buClr>
                <a:schemeClr val="dk1"/>
              </a:buClr>
              <a:buSzPts val="990"/>
              <a:buFont typeface="Arial"/>
              <a:buNone/>
            </a:pPr>
            <a:r>
              <a:rPr b="1" lang="en" sz="2500">
                <a:highlight>
                  <a:schemeClr val="lt1"/>
                </a:highlight>
                <a:latin typeface="Times New Roman"/>
                <a:ea typeface="Times New Roman"/>
                <a:cs typeface="Times New Roman"/>
                <a:sym typeface="Times New Roman"/>
              </a:rPr>
              <a:t>Key Features</a:t>
            </a:r>
            <a:endParaRPr b="1" sz="2500">
              <a:highlight>
                <a:schemeClr val="lt1"/>
              </a:highlight>
              <a:latin typeface="Times New Roman"/>
              <a:ea typeface="Times New Roman"/>
              <a:cs typeface="Times New Roman"/>
              <a:sym typeface="Times New Roman"/>
            </a:endParaRPr>
          </a:p>
          <a:p>
            <a:pPr indent="0" lvl="0" marL="0" rtl="0" algn="ctr">
              <a:lnSpc>
                <a:spcPct val="100000"/>
              </a:lnSpc>
              <a:spcBef>
                <a:spcPts val="400"/>
              </a:spcBef>
              <a:spcAft>
                <a:spcPts val="0"/>
              </a:spcAft>
              <a:buSzPts val="990"/>
              <a:buNone/>
            </a:pPr>
            <a:r>
              <a:t/>
            </a:r>
            <a:endParaRPr sz="3120">
              <a:latin typeface="Times New Roman"/>
              <a:ea typeface="Times New Roman"/>
              <a:cs typeface="Times New Roman"/>
              <a:sym typeface="Times New Roman"/>
            </a:endParaRPr>
          </a:p>
        </p:txBody>
      </p:sp>
      <p:sp>
        <p:nvSpPr>
          <p:cNvPr id="74" name="Google Shape;74;p16"/>
          <p:cNvSpPr txBox="1"/>
          <p:nvPr>
            <p:ph idx="1" type="body"/>
          </p:nvPr>
        </p:nvSpPr>
        <p:spPr>
          <a:xfrm>
            <a:off x="-15175" y="463575"/>
            <a:ext cx="9235500" cy="4764900"/>
          </a:xfrm>
          <a:prstGeom prst="rect">
            <a:avLst/>
          </a:prstGeom>
          <a:noFill/>
          <a:ln>
            <a:noFill/>
          </a:ln>
        </p:spPr>
        <p:txBody>
          <a:bodyPr anchorCtr="0" anchor="t" bIns="91425" lIns="91425" spcFirstLastPara="1" rIns="91425" wrap="square" tIns="91425">
            <a:noAutofit/>
          </a:bodyPr>
          <a:lstStyle/>
          <a:p>
            <a:pPr indent="-336550" lvl="1" marL="914400" rtl="0" algn="l">
              <a:lnSpc>
                <a:spcPct val="115000"/>
              </a:lnSpc>
              <a:spcBef>
                <a:spcPts val="1500"/>
              </a:spcBef>
              <a:spcAft>
                <a:spcPts val="0"/>
              </a:spcAft>
              <a:buClr>
                <a:schemeClr val="dk1"/>
              </a:buClr>
              <a:buSzPts val="1700"/>
              <a:buFont typeface="Times New Roman"/>
              <a:buChar char="●"/>
            </a:pPr>
            <a:r>
              <a:rPr lang="en" sz="1700">
                <a:solidFill>
                  <a:schemeClr val="dk1"/>
                </a:solidFill>
                <a:highlight>
                  <a:schemeClr val="lt1"/>
                </a:highlight>
                <a:latin typeface="Times New Roman"/>
                <a:ea typeface="Times New Roman"/>
                <a:cs typeface="Times New Roman"/>
                <a:sym typeface="Times New Roman"/>
              </a:rPr>
              <a:t>Our IoT-based home security system is designed to provide comprehensive protection for homes. Utilizing Arduino Uno and ESP8266, it integrates gas, IR, temperature, and light sensors for thorough monitoring. </a:t>
            </a:r>
            <a:endParaRPr sz="1700">
              <a:solidFill>
                <a:schemeClr val="dk1"/>
              </a:solidFill>
              <a:highlight>
                <a:schemeClr val="lt1"/>
              </a:highlight>
              <a:latin typeface="Times New Roman"/>
              <a:ea typeface="Times New Roman"/>
              <a:cs typeface="Times New Roman"/>
              <a:sym typeface="Times New Roman"/>
            </a:endParaRPr>
          </a:p>
          <a:p>
            <a:pPr indent="-336550" lvl="1" marL="914400" rtl="0" algn="l">
              <a:lnSpc>
                <a:spcPct val="115000"/>
              </a:lnSpc>
              <a:spcBef>
                <a:spcPts val="1500"/>
              </a:spcBef>
              <a:spcAft>
                <a:spcPts val="0"/>
              </a:spcAft>
              <a:buClr>
                <a:schemeClr val="dk1"/>
              </a:buClr>
              <a:buSzPts val="1700"/>
              <a:buFont typeface="Times New Roman"/>
              <a:buChar char="●"/>
            </a:pPr>
            <a:r>
              <a:rPr lang="en" sz="1700">
                <a:solidFill>
                  <a:schemeClr val="dk1"/>
                </a:solidFill>
                <a:highlight>
                  <a:schemeClr val="lt1"/>
                </a:highlight>
                <a:latin typeface="Times New Roman"/>
                <a:ea typeface="Times New Roman"/>
                <a:cs typeface="Times New Roman"/>
                <a:sym typeface="Times New Roman"/>
              </a:rPr>
              <a:t>With the ability to detect gas leaks, unauthorized entries, and fire traces, the system ensures prompt response to potential threats. Real-time data transmission via Wi-Fi enables instant alerts to the user, enhancing security measures. </a:t>
            </a:r>
            <a:endParaRPr sz="1700">
              <a:solidFill>
                <a:schemeClr val="dk1"/>
              </a:solidFill>
              <a:highlight>
                <a:schemeClr val="lt1"/>
              </a:highlight>
              <a:latin typeface="Times New Roman"/>
              <a:ea typeface="Times New Roman"/>
              <a:cs typeface="Times New Roman"/>
              <a:sym typeface="Times New Roman"/>
            </a:endParaRPr>
          </a:p>
          <a:p>
            <a:pPr indent="-336550" lvl="1" marL="914400" rtl="0" algn="l">
              <a:lnSpc>
                <a:spcPct val="115000"/>
              </a:lnSpc>
              <a:spcBef>
                <a:spcPts val="1500"/>
              </a:spcBef>
              <a:spcAft>
                <a:spcPts val="0"/>
              </a:spcAft>
              <a:buClr>
                <a:schemeClr val="dk1"/>
              </a:buClr>
              <a:buSzPts val="1700"/>
              <a:buFont typeface="Times New Roman"/>
              <a:buChar char="●"/>
            </a:pPr>
            <a:r>
              <a:rPr lang="en" sz="1700">
                <a:solidFill>
                  <a:schemeClr val="dk1"/>
                </a:solidFill>
                <a:highlight>
                  <a:schemeClr val="lt1"/>
                </a:highlight>
                <a:latin typeface="Times New Roman"/>
                <a:ea typeface="Times New Roman"/>
                <a:cs typeface="Times New Roman"/>
                <a:sym typeface="Times New Roman"/>
              </a:rPr>
              <a:t>Additionally, the system features a pre-arming function that activates before locking the main door, further fortifying defense mechanisms. Its user-friendly interface and intuitive design make it accessible to homeowners, offering peace of mind and a sense of security. </a:t>
            </a:r>
            <a:endParaRPr sz="1700">
              <a:solidFill>
                <a:schemeClr val="dk1"/>
              </a:solidFill>
              <a:highlight>
                <a:schemeClr val="lt1"/>
              </a:highlight>
              <a:latin typeface="Times New Roman"/>
              <a:ea typeface="Times New Roman"/>
              <a:cs typeface="Times New Roman"/>
              <a:sym typeface="Times New Roman"/>
            </a:endParaRPr>
          </a:p>
          <a:p>
            <a:pPr indent="-336550" lvl="1" marL="914400" rtl="0" algn="l">
              <a:lnSpc>
                <a:spcPct val="115000"/>
              </a:lnSpc>
              <a:spcBef>
                <a:spcPts val="1500"/>
              </a:spcBef>
              <a:spcAft>
                <a:spcPts val="0"/>
              </a:spcAft>
              <a:buClr>
                <a:schemeClr val="dk1"/>
              </a:buClr>
              <a:buSzPts val="1700"/>
              <a:buFont typeface="Times New Roman"/>
              <a:buChar char="●"/>
            </a:pPr>
            <a:r>
              <a:rPr lang="en" sz="1700">
                <a:solidFill>
                  <a:schemeClr val="dk1"/>
                </a:solidFill>
                <a:highlight>
                  <a:schemeClr val="lt1"/>
                </a:highlight>
                <a:latin typeface="Times New Roman"/>
                <a:ea typeface="Times New Roman"/>
                <a:cs typeface="Times New Roman"/>
                <a:sym typeface="Times New Roman"/>
              </a:rPr>
              <a:t>By leveraging advanced sensor technology and IoT connectivity, our home security system provides a reliable and efficient solution to safeguard homes from various incidents, contributing to a safer living environment for residents.</a:t>
            </a:r>
            <a:endParaRPr sz="1700">
              <a:solidFill>
                <a:schemeClr val="dk1"/>
              </a:solidFill>
              <a:highlight>
                <a:schemeClr val="lt1"/>
              </a:highlight>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2794950" y="11"/>
            <a:ext cx="3554100" cy="8010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b="1" lang="en" sz="2533">
                <a:latin typeface="Times New Roman"/>
                <a:ea typeface="Times New Roman"/>
                <a:cs typeface="Times New Roman"/>
                <a:sym typeface="Times New Roman"/>
              </a:rPr>
              <a:t>SENSORS</a:t>
            </a:r>
            <a:r>
              <a:rPr b="1" lang="en" sz="3133">
                <a:latin typeface="Times New Roman"/>
                <a:ea typeface="Times New Roman"/>
                <a:cs typeface="Times New Roman"/>
                <a:sym typeface="Times New Roman"/>
              </a:rPr>
              <a:t> </a:t>
            </a:r>
            <a:r>
              <a:rPr lang="en">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
        <p:nvSpPr>
          <p:cNvPr id="80" name="Google Shape;80;p17"/>
          <p:cNvSpPr txBox="1"/>
          <p:nvPr>
            <p:ph idx="1" type="body"/>
          </p:nvPr>
        </p:nvSpPr>
        <p:spPr>
          <a:xfrm>
            <a:off x="272550" y="559050"/>
            <a:ext cx="8434800" cy="1577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1200"/>
              </a:spcAft>
              <a:buSzPts val="1800"/>
              <a:buNone/>
            </a:pPr>
            <a:r>
              <a:rPr lang="en" sz="1700">
                <a:solidFill>
                  <a:srgbClr val="202124"/>
                </a:solidFill>
                <a:highlight>
                  <a:srgbClr val="FFFFFF"/>
                </a:highlight>
                <a:latin typeface="Times New Roman"/>
                <a:ea typeface="Times New Roman"/>
                <a:cs typeface="Times New Roman"/>
                <a:sym typeface="Times New Roman"/>
              </a:rPr>
              <a:t> </a:t>
            </a:r>
            <a:r>
              <a:rPr lang="en" sz="2500">
                <a:solidFill>
                  <a:srgbClr val="202124"/>
                </a:solidFill>
                <a:highlight>
                  <a:srgbClr val="FFFFFF"/>
                </a:highlight>
                <a:latin typeface="Times New Roman"/>
                <a:ea typeface="Times New Roman"/>
                <a:cs typeface="Times New Roman"/>
                <a:sym typeface="Times New Roman"/>
              </a:rPr>
              <a:t>Light Dependent Resistor (LDR)</a:t>
            </a:r>
            <a:endParaRPr sz="2500">
              <a:solidFill>
                <a:schemeClr val="dk1"/>
              </a:solidFill>
              <a:highlight>
                <a:schemeClr val="lt1"/>
              </a:highlight>
              <a:latin typeface="Times New Roman"/>
              <a:ea typeface="Times New Roman"/>
              <a:cs typeface="Times New Roman"/>
              <a:sym typeface="Times New Roman"/>
            </a:endParaRPr>
          </a:p>
        </p:txBody>
      </p:sp>
      <p:sp>
        <p:nvSpPr>
          <p:cNvPr id="81" name="Google Shape;81;p17"/>
          <p:cNvSpPr txBox="1"/>
          <p:nvPr/>
        </p:nvSpPr>
        <p:spPr>
          <a:xfrm>
            <a:off x="-10950" y="1199250"/>
            <a:ext cx="9144000" cy="25854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Font typeface="Times New Roman"/>
              <a:buChar char="●"/>
            </a:pPr>
            <a:r>
              <a:rPr lang="en" sz="1700">
                <a:solidFill>
                  <a:schemeClr val="dk1"/>
                </a:solidFill>
                <a:highlight>
                  <a:schemeClr val="lt1"/>
                </a:highlight>
                <a:latin typeface="Times New Roman"/>
                <a:ea typeface="Times New Roman"/>
                <a:cs typeface="Times New Roman"/>
                <a:sym typeface="Times New Roman"/>
              </a:rPr>
              <a:t>The Light Dependent Resistor (LDR) in your system measures light intensity. It is sensitive to variations in light levels, detecting changes caused by energized lamps or flames, enhancing the home security system's ability to identify potential threats.</a:t>
            </a:r>
            <a:endParaRPr sz="1700">
              <a:solidFill>
                <a:schemeClr val="dk1"/>
              </a:solidFill>
              <a:highlight>
                <a:schemeClr val="lt1"/>
              </a:highlight>
              <a:latin typeface="Times New Roman"/>
              <a:ea typeface="Times New Roman"/>
              <a:cs typeface="Times New Roman"/>
              <a:sym typeface="Times New Roman"/>
            </a:endParaRPr>
          </a:p>
          <a:p>
            <a:pPr indent="0" lvl="0" marL="457200" rtl="0" algn="l">
              <a:spcBef>
                <a:spcPts val="0"/>
              </a:spcBef>
              <a:spcAft>
                <a:spcPts val="0"/>
              </a:spcAft>
              <a:buNone/>
            </a:pPr>
            <a:r>
              <a:t/>
            </a:r>
            <a:endParaRPr sz="1700">
              <a:solidFill>
                <a:schemeClr val="dk1"/>
              </a:solidFill>
              <a:highlight>
                <a:schemeClr val="lt1"/>
              </a:highlight>
              <a:latin typeface="Times New Roman"/>
              <a:ea typeface="Times New Roman"/>
              <a:cs typeface="Times New Roman"/>
              <a:sym typeface="Times New Roman"/>
            </a:endParaRPr>
          </a:p>
          <a:p>
            <a:pPr indent="-336550" lvl="0" marL="457200" rtl="0" algn="l">
              <a:spcBef>
                <a:spcPts val="0"/>
              </a:spcBef>
              <a:spcAft>
                <a:spcPts val="0"/>
              </a:spcAft>
              <a:buClr>
                <a:schemeClr val="dk1"/>
              </a:buClr>
              <a:buSzPts val="1700"/>
              <a:buFont typeface="Times New Roman"/>
              <a:buChar char="●"/>
            </a:pPr>
            <a:r>
              <a:rPr lang="en" sz="1700">
                <a:solidFill>
                  <a:srgbClr val="0D0D0D"/>
                </a:solidFill>
                <a:highlight>
                  <a:srgbClr val="FFFFFF"/>
                </a:highlight>
                <a:latin typeface="Times New Roman"/>
                <a:ea typeface="Times New Roman"/>
                <a:cs typeface="Times New Roman"/>
                <a:sym typeface="Times New Roman"/>
              </a:rPr>
              <a:t>LDRs are typically made of semiconductor materials, such as cadmium sulfide (CdS). The conductivity of these materials changes with light exposure.</a:t>
            </a:r>
            <a:endParaRPr sz="2300">
              <a:solidFill>
                <a:schemeClr val="dk1"/>
              </a:solidFill>
              <a:highlight>
                <a:schemeClr val="lt1"/>
              </a:highlight>
              <a:latin typeface="Times New Roman"/>
              <a:ea typeface="Times New Roman"/>
              <a:cs typeface="Times New Roman"/>
              <a:sym typeface="Times New Roman"/>
            </a:endParaRPr>
          </a:p>
        </p:txBody>
      </p:sp>
      <p:pic>
        <p:nvPicPr>
          <p:cNvPr id="82" name="Google Shape;82;p17"/>
          <p:cNvPicPr preferRelativeResize="0"/>
          <p:nvPr/>
        </p:nvPicPr>
        <p:blipFill>
          <a:blip r:embed="rId3">
            <a:alphaModFix/>
          </a:blip>
          <a:stretch>
            <a:fillRect/>
          </a:stretch>
        </p:blipFill>
        <p:spPr>
          <a:xfrm>
            <a:off x="3143250" y="2898150"/>
            <a:ext cx="2384498" cy="20834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idx="1" type="body"/>
          </p:nvPr>
        </p:nvSpPr>
        <p:spPr>
          <a:xfrm>
            <a:off x="0" y="308775"/>
            <a:ext cx="8981400" cy="28914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b="1" lang="en" sz="2500">
                <a:solidFill>
                  <a:schemeClr val="dk1"/>
                </a:solidFill>
                <a:latin typeface="Times New Roman"/>
                <a:ea typeface="Times New Roman"/>
                <a:cs typeface="Times New Roman"/>
                <a:sym typeface="Times New Roman"/>
              </a:rPr>
              <a:t>MQ2</a:t>
            </a:r>
            <a:endParaRPr sz="2500">
              <a:solidFill>
                <a:schemeClr val="dk1"/>
              </a:solidFill>
              <a:highlight>
                <a:schemeClr val="lt1"/>
              </a:highlight>
              <a:latin typeface="Times New Roman"/>
              <a:ea typeface="Times New Roman"/>
              <a:cs typeface="Times New Roman"/>
              <a:sym typeface="Times New Roman"/>
            </a:endParaRPr>
          </a:p>
          <a:p>
            <a:pPr indent="-355600" lvl="0" marL="457200" rtl="0" algn="l">
              <a:lnSpc>
                <a:spcPct val="133333"/>
              </a:lnSpc>
              <a:spcBef>
                <a:spcPts val="1200"/>
              </a:spcBef>
              <a:spcAft>
                <a:spcPts val="0"/>
              </a:spcAft>
              <a:buClr>
                <a:schemeClr val="dk1"/>
              </a:buClr>
              <a:buSzPts val="2000"/>
              <a:buFont typeface="Times New Roman"/>
              <a:buChar char="●"/>
            </a:pPr>
            <a:r>
              <a:rPr lang="en" sz="1650">
                <a:solidFill>
                  <a:schemeClr val="dk1"/>
                </a:solidFill>
              </a:rPr>
              <a:t>The MQ2 gas sensor is a semiconductor sensor that can detect a variety of gases and smoke in the air, including:</a:t>
            </a:r>
            <a:endParaRPr sz="1650">
              <a:solidFill>
                <a:schemeClr val="dk1"/>
              </a:solidFill>
            </a:endParaRPr>
          </a:p>
          <a:p>
            <a:pPr indent="-355600" lvl="0" marL="457200" rtl="0" algn="l">
              <a:lnSpc>
                <a:spcPct val="133333"/>
              </a:lnSpc>
              <a:spcBef>
                <a:spcPts val="0"/>
              </a:spcBef>
              <a:spcAft>
                <a:spcPts val="0"/>
              </a:spcAft>
              <a:buClr>
                <a:schemeClr val="dk1"/>
              </a:buClr>
              <a:buSzPts val="2000"/>
              <a:buFont typeface="Times New Roman"/>
              <a:buChar char="●"/>
            </a:pPr>
            <a:r>
              <a:rPr lang="en" sz="1650">
                <a:solidFill>
                  <a:srgbClr val="001D35"/>
                </a:solidFill>
                <a:highlight>
                  <a:srgbClr val="FFFFFF"/>
                </a:highlight>
                <a:latin typeface="Roboto"/>
                <a:ea typeface="Roboto"/>
                <a:cs typeface="Roboto"/>
                <a:sym typeface="Roboto"/>
              </a:rPr>
              <a:t>Liquefied natural gas (LNG), Butane, Propane, Methane, Alcohol, Hydrogen, and Carbon monoxide. </a:t>
            </a:r>
            <a:endParaRPr sz="2000">
              <a:solidFill>
                <a:schemeClr val="dk1"/>
              </a:solidFill>
              <a:highlight>
                <a:schemeClr val="lt1"/>
              </a:highlight>
              <a:latin typeface="Times New Roman"/>
              <a:ea typeface="Times New Roman"/>
              <a:cs typeface="Times New Roman"/>
              <a:sym typeface="Times New Roman"/>
            </a:endParaRPr>
          </a:p>
        </p:txBody>
      </p:sp>
      <p:pic>
        <p:nvPicPr>
          <p:cNvPr id="88" name="Google Shape;88;p18"/>
          <p:cNvPicPr preferRelativeResize="0"/>
          <p:nvPr/>
        </p:nvPicPr>
        <p:blipFill>
          <a:blip r:embed="rId3">
            <a:alphaModFix/>
          </a:blip>
          <a:stretch>
            <a:fillRect/>
          </a:stretch>
        </p:blipFill>
        <p:spPr>
          <a:xfrm>
            <a:off x="2743200" y="2403025"/>
            <a:ext cx="3244650" cy="25880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idx="1" type="body"/>
          </p:nvPr>
        </p:nvSpPr>
        <p:spPr>
          <a:xfrm>
            <a:off x="0" y="308775"/>
            <a:ext cx="8981400" cy="28914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SzPts val="1100"/>
              <a:buNone/>
            </a:pPr>
            <a:r>
              <a:rPr b="1" lang="en" sz="2500">
                <a:solidFill>
                  <a:schemeClr val="dk1"/>
                </a:solidFill>
                <a:latin typeface="Times New Roman"/>
                <a:ea typeface="Times New Roman"/>
                <a:cs typeface="Times New Roman"/>
                <a:sym typeface="Times New Roman"/>
              </a:rPr>
              <a:t>IR Sensor</a:t>
            </a:r>
            <a:endParaRPr sz="2500">
              <a:solidFill>
                <a:schemeClr val="dk1"/>
              </a:solidFill>
              <a:highlight>
                <a:schemeClr val="lt1"/>
              </a:highlight>
              <a:latin typeface="Times New Roman"/>
              <a:ea typeface="Times New Roman"/>
              <a:cs typeface="Times New Roman"/>
              <a:sym typeface="Times New Roman"/>
            </a:endParaRPr>
          </a:p>
          <a:p>
            <a:pPr indent="-336550" lvl="0" marL="457200" rtl="0" algn="l">
              <a:spcBef>
                <a:spcPts val="1200"/>
              </a:spcBef>
              <a:spcAft>
                <a:spcPts val="0"/>
              </a:spcAft>
              <a:buClr>
                <a:srgbClr val="0D0D0D"/>
              </a:buClr>
              <a:buSzPts val="1700"/>
              <a:buFont typeface="Times New Roman"/>
              <a:buChar char="●"/>
            </a:pPr>
            <a:r>
              <a:rPr lang="en" sz="1700">
                <a:solidFill>
                  <a:srgbClr val="0D0D0D"/>
                </a:solidFill>
                <a:highlight>
                  <a:srgbClr val="FFFFFF"/>
                </a:highlight>
                <a:latin typeface="Times New Roman"/>
                <a:ea typeface="Times New Roman"/>
                <a:cs typeface="Times New Roman"/>
                <a:sym typeface="Times New Roman"/>
              </a:rPr>
              <a:t>IR (Infrared) sensors are strategically placed near the main door to detect unauthorized entry attempts. When the infrared beams are interrupted, these sensors trigger alarms, enhancing the security system's capability to thwart potential intruders.</a:t>
            </a:r>
            <a:endParaRPr sz="1700">
              <a:solidFill>
                <a:srgbClr val="0D0D0D"/>
              </a:solidFill>
              <a:highlight>
                <a:srgbClr val="FFFFFF"/>
              </a:highlight>
              <a:latin typeface="Times New Roman"/>
              <a:ea typeface="Times New Roman"/>
              <a:cs typeface="Times New Roman"/>
              <a:sym typeface="Times New Roman"/>
            </a:endParaRPr>
          </a:p>
          <a:p>
            <a:pPr indent="-368300" lvl="0" marL="457200" rtl="0" algn="l">
              <a:spcBef>
                <a:spcPts val="0"/>
              </a:spcBef>
              <a:spcAft>
                <a:spcPts val="0"/>
              </a:spcAft>
              <a:buClr>
                <a:srgbClr val="0D0D0D"/>
              </a:buClr>
              <a:buSzPts val="2200"/>
              <a:buFont typeface="Times New Roman"/>
              <a:buChar char="●"/>
            </a:pPr>
            <a:r>
              <a:rPr lang="en" sz="1700">
                <a:solidFill>
                  <a:srgbClr val="0D0D0D"/>
                </a:solidFill>
                <a:highlight>
                  <a:srgbClr val="FFFFFF"/>
                </a:highlight>
                <a:latin typeface="Times New Roman"/>
                <a:ea typeface="Times New Roman"/>
                <a:cs typeface="Times New Roman"/>
                <a:sym typeface="Times New Roman"/>
              </a:rPr>
              <a:t>An IR sensor consists of two main components – an infrared emitter and an infrared receiver. The emitter emits infrared light, and the receiver detects the reflected or emitted infrared radiation.</a:t>
            </a:r>
            <a:endParaRPr sz="2200">
              <a:solidFill>
                <a:srgbClr val="0D0D0D"/>
              </a:solidFill>
              <a:highlight>
                <a:srgbClr val="FFFFFF"/>
              </a:highlight>
              <a:latin typeface="Times New Roman"/>
              <a:ea typeface="Times New Roman"/>
              <a:cs typeface="Times New Roman"/>
              <a:sym typeface="Times New Roman"/>
            </a:endParaRPr>
          </a:p>
        </p:txBody>
      </p:sp>
      <p:pic>
        <p:nvPicPr>
          <p:cNvPr id="94" name="Google Shape;94;p19"/>
          <p:cNvPicPr preferRelativeResize="0"/>
          <p:nvPr/>
        </p:nvPicPr>
        <p:blipFill>
          <a:blip r:embed="rId3">
            <a:alphaModFix/>
          </a:blip>
          <a:stretch>
            <a:fillRect/>
          </a:stretch>
        </p:blipFill>
        <p:spPr>
          <a:xfrm>
            <a:off x="2867025" y="3424238"/>
            <a:ext cx="3257550" cy="1952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latin typeface="Times New Roman"/>
                <a:ea typeface="Times New Roman"/>
                <a:cs typeface="Times New Roman"/>
                <a:sym typeface="Times New Roman"/>
              </a:rPr>
              <a:t>FLAME SENSOR</a:t>
            </a:r>
            <a:endParaRPr b="1">
              <a:latin typeface="Times New Roman"/>
              <a:ea typeface="Times New Roman"/>
              <a:cs typeface="Times New Roman"/>
              <a:sym typeface="Times New Roman"/>
            </a:endParaRPr>
          </a:p>
        </p:txBody>
      </p:sp>
      <p:sp>
        <p:nvSpPr>
          <p:cNvPr id="100" name="Google Shape;100;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sz="1500">
                <a:solidFill>
                  <a:srgbClr val="202124"/>
                </a:solidFill>
                <a:highlight>
                  <a:schemeClr val="lt1"/>
                </a:highlight>
              </a:rPr>
              <a:t>A flame detector is </a:t>
            </a:r>
            <a:r>
              <a:rPr lang="en" sz="1500">
                <a:solidFill>
                  <a:srgbClr val="040C28"/>
                </a:solidFill>
                <a:highlight>
                  <a:schemeClr val="lt1"/>
                </a:highlight>
              </a:rPr>
              <a:t>a type of sensor that can detect and respond to the presence of a flame</a:t>
            </a:r>
            <a:r>
              <a:rPr lang="en" sz="1500">
                <a:solidFill>
                  <a:srgbClr val="202124"/>
                </a:solidFill>
                <a:highlight>
                  <a:schemeClr val="lt1"/>
                </a:highlight>
              </a:rPr>
              <a:t>. These detectors have the ability to identify smokeless liquid and smoke that can create open fire. </a:t>
            </a:r>
            <a:endParaRPr sz="1500">
              <a:solidFill>
                <a:srgbClr val="202124"/>
              </a:solidFill>
              <a:highlight>
                <a:schemeClr val="lt1"/>
              </a:highlight>
            </a:endParaRPr>
          </a:p>
          <a:p>
            <a:pPr indent="-323850" lvl="0" marL="457200" rtl="0" algn="l">
              <a:spcBef>
                <a:spcPts val="0"/>
              </a:spcBef>
              <a:spcAft>
                <a:spcPts val="0"/>
              </a:spcAft>
              <a:buSzPts val="1500"/>
              <a:buChar char="●"/>
            </a:pPr>
            <a:r>
              <a:rPr lang="en" sz="1500">
                <a:solidFill>
                  <a:srgbClr val="202124"/>
                </a:solidFill>
                <a:highlight>
                  <a:schemeClr val="lt1"/>
                </a:highlight>
              </a:rPr>
              <a:t>For example, in boiler furnaces flame detectors are widely used, as a flame detector can detect heat, smoke, and fire</a:t>
            </a:r>
            <a:endParaRPr>
              <a:highlight>
                <a:schemeClr val="lt1"/>
              </a:highlight>
            </a:endParaRPr>
          </a:p>
        </p:txBody>
      </p:sp>
      <p:pic>
        <p:nvPicPr>
          <p:cNvPr id="101" name="Google Shape;101;p20"/>
          <p:cNvPicPr preferRelativeResize="0"/>
          <p:nvPr/>
        </p:nvPicPr>
        <p:blipFill>
          <a:blip r:embed="rId3">
            <a:alphaModFix/>
          </a:blip>
          <a:stretch>
            <a:fillRect/>
          </a:stretch>
        </p:blipFill>
        <p:spPr>
          <a:xfrm>
            <a:off x="3529532" y="2571750"/>
            <a:ext cx="1793692" cy="24097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63925" y="326434"/>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990"/>
              <a:buFont typeface="Arial"/>
              <a:buNone/>
            </a:pPr>
            <a:r>
              <a:rPr b="1" lang="en" sz="2520">
                <a:latin typeface="Times New Roman"/>
                <a:ea typeface="Times New Roman"/>
                <a:cs typeface="Times New Roman"/>
                <a:sym typeface="Times New Roman"/>
              </a:rPr>
              <a:t>MICROCONTROLLERS  - Arduino Uno</a:t>
            </a:r>
            <a:endParaRPr b="1" sz="2520">
              <a:latin typeface="Times New Roman"/>
              <a:ea typeface="Times New Roman"/>
              <a:cs typeface="Times New Roman"/>
              <a:sym typeface="Times New Roman"/>
            </a:endParaRPr>
          </a:p>
        </p:txBody>
      </p:sp>
      <p:sp>
        <p:nvSpPr>
          <p:cNvPr id="107" name="Google Shape;107;p21"/>
          <p:cNvSpPr txBox="1"/>
          <p:nvPr>
            <p:ph idx="1" type="body"/>
          </p:nvPr>
        </p:nvSpPr>
        <p:spPr>
          <a:xfrm>
            <a:off x="225900" y="899125"/>
            <a:ext cx="8520600" cy="1450800"/>
          </a:xfrm>
          <a:prstGeom prst="rect">
            <a:avLst/>
          </a:prstGeom>
          <a:noFill/>
          <a:ln>
            <a:noFill/>
          </a:ln>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Clr>
                <a:schemeClr val="dk1"/>
              </a:buClr>
              <a:buSzPts val="1700"/>
              <a:buFont typeface="Times New Roman"/>
              <a:buChar char="●"/>
            </a:pPr>
            <a:r>
              <a:rPr lang="en" sz="1700">
                <a:solidFill>
                  <a:schemeClr val="dk1"/>
                </a:solidFill>
                <a:highlight>
                  <a:schemeClr val="lt1"/>
                </a:highlight>
                <a:latin typeface="Times New Roman"/>
                <a:ea typeface="Times New Roman"/>
                <a:cs typeface="Times New Roman"/>
                <a:sym typeface="Times New Roman"/>
              </a:rPr>
              <a:t>The microcontroller, such as the Arduino Uno, is like the brain of our system. It processes information from sensors, helping make smart decisions for effective home security. It's the control center that makes everything work together seamlessly.</a:t>
            </a:r>
            <a:endParaRPr sz="1700">
              <a:solidFill>
                <a:schemeClr val="dk1"/>
              </a:solidFill>
              <a:highlight>
                <a:schemeClr val="lt1"/>
              </a:highlight>
              <a:latin typeface="Times New Roman"/>
              <a:ea typeface="Times New Roman"/>
              <a:cs typeface="Times New Roman"/>
              <a:sym typeface="Times New Roman"/>
            </a:endParaRPr>
          </a:p>
        </p:txBody>
      </p:sp>
      <p:pic>
        <p:nvPicPr>
          <p:cNvPr id="108" name="Google Shape;108;p21"/>
          <p:cNvPicPr preferRelativeResize="0"/>
          <p:nvPr/>
        </p:nvPicPr>
        <p:blipFill>
          <a:blip r:embed="rId3">
            <a:alphaModFix/>
          </a:blip>
          <a:stretch>
            <a:fillRect/>
          </a:stretch>
        </p:blipFill>
        <p:spPr>
          <a:xfrm>
            <a:off x="2819900" y="2224775"/>
            <a:ext cx="3761525" cy="27460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latin typeface="Times New Roman"/>
                <a:ea typeface="Times New Roman"/>
                <a:cs typeface="Times New Roman"/>
                <a:sym typeface="Times New Roman"/>
              </a:rPr>
              <a:t>ESP8266 MOD</a:t>
            </a:r>
            <a:endParaRPr b="1">
              <a:latin typeface="Times New Roman"/>
              <a:ea typeface="Times New Roman"/>
              <a:cs typeface="Times New Roman"/>
              <a:sym typeface="Times New Roman"/>
            </a:endParaRPr>
          </a:p>
        </p:txBody>
      </p:sp>
      <p:sp>
        <p:nvSpPr>
          <p:cNvPr id="114" name="Google Shape;114;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300">
                <a:solidFill>
                  <a:srgbClr val="4D5156"/>
                </a:solidFill>
                <a:highlight>
                  <a:schemeClr val="lt1"/>
                </a:highlight>
                <a:latin typeface="Times New Roman"/>
                <a:ea typeface="Times New Roman"/>
                <a:cs typeface="Times New Roman"/>
                <a:sym typeface="Times New Roman"/>
              </a:rPr>
              <a:t>The ESP8266 module </a:t>
            </a:r>
            <a:r>
              <a:rPr lang="en" sz="2300">
                <a:solidFill>
                  <a:srgbClr val="040C28"/>
                </a:solidFill>
                <a:highlight>
                  <a:schemeClr val="lt1"/>
                </a:highlight>
                <a:latin typeface="Times New Roman"/>
                <a:ea typeface="Times New Roman"/>
                <a:cs typeface="Times New Roman"/>
                <a:sym typeface="Times New Roman"/>
              </a:rPr>
              <a:t>enables microcontrollers to connect to 2.4 GHz Wi-Fi, using IEEE 802.11 bgn</a:t>
            </a:r>
            <a:endParaRPr sz="2300">
              <a:highlight>
                <a:schemeClr val="lt1"/>
              </a:highlight>
              <a:latin typeface="Times New Roman"/>
              <a:ea typeface="Times New Roman"/>
              <a:cs typeface="Times New Roman"/>
              <a:sym typeface="Times New Roman"/>
            </a:endParaRPr>
          </a:p>
        </p:txBody>
      </p:sp>
      <p:pic>
        <p:nvPicPr>
          <p:cNvPr id="115" name="Google Shape;115;p22"/>
          <p:cNvPicPr preferRelativeResize="0"/>
          <p:nvPr/>
        </p:nvPicPr>
        <p:blipFill>
          <a:blip r:embed="rId3">
            <a:alphaModFix/>
          </a:blip>
          <a:stretch>
            <a:fillRect/>
          </a:stretch>
        </p:blipFill>
        <p:spPr>
          <a:xfrm>
            <a:off x="3080000" y="2326823"/>
            <a:ext cx="2680850" cy="2626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19697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990"/>
              <a:buNone/>
            </a:pPr>
            <a:r>
              <a:rPr b="1" lang="en" sz="2520"/>
              <a:t>CIRCUIT</a:t>
            </a:r>
            <a:r>
              <a:rPr b="1" lang="en" sz="2520"/>
              <a:t> DIAGRAM</a:t>
            </a:r>
            <a:endParaRPr b="1" sz="2520"/>
          </a:p>
        </p:txBody>
      </p:sp>
      <p:sp>
        <p:nvSpPr>
          <p:cNvPr id="121" name="Google Shape;121;p23"/>
          <p:cNvSpPr txBox="1"/>
          <p:nvPr/>
        </p:nvSpPr>
        <p:spPr>
          <a:xfrm>
            <a:off x="4053600" y="2116675"/>
            <a:ext cx="1484700" cy="405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chemeClr val="dk1"/>
              </a:solidFill>
              <a:latin typeface="Comfortaa"/>
              <a:ea typeface="Comfortaa"/>
              <a:cs typeface="Comfortaa"/>
              <a:sym typeface="Comfortaa"/>
            </a:endParaRPr>
          </a:p>
        </p:txBody>
      </p:sp>
      <p:pic>
        <p:nvPicPr>
          <p:cNvPr id="122" name="Google Shape;122;p23"/>
          <p:cNvPicPr preferRelativeResize="0"/>
          <p:nvPr/>
        </p:nvPicPr>
        <p:blipFill>
          <a:blip r:embed="rId3">
            <a:alphaModFix/>
          </a:blip>
          <a:stretch>
            <a:fillRect/>
          </a:stretch>
        </p:blipFill>
        <p:spPr>
          <a:xfrm>
            <a:off x="1576826" y="662025"/>
            <a:ext cx="5529325" cy="44405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